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Georgia"/>
              </a:defRPr>
            </a:pPr>
            <a:r>
              <a:t>Site Manager Technical Handover</a:t>
            </a:r>
          </a:p>
          <a:p>
            <a:pPr>
              <a:spcBef>
                <a:spcPts val="1200"/>
              </a:spcBef>
              <a:defRPr sz="2000">
                <a:solidFill>
                  <a:srgbClr val="0E7490"/>
                </a:solidFill>
                <a:latin typeface="Verdana"/>
              </a:defRPr>
            </a:pPr>
            <a:r>
              <a:t>Comprehensive 45-Minute Run of Show &amp; Architecture Deep Dive</a:t>
            </a:r>
          </a:p>
          <a:p>
            <a:pPr>
              <a:spcBef>
                <a:spcPts val="2800"/>
              </a:spcBef>
              <a:defRPr sz="1300">
                <a:solidFill>
                  <a:srgbClr val="64748B"/>
                </a:solidFill>
                <a:latin typeface="Verdana"/>
              </a:defRPr>
            </a:pPr>
            <a:r>
              <a:t>Module Federation • SignalR Real-Time Data • Optimistic SetPoint Writes • Docker &amp; Kubernetes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45-Minute Run of Show Balances Foundation, Core Features, and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2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0:00–0:02  |  Opening &amp; Context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UI scope, live demo environment, and session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96312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0:02–0:09  |  1. Foundation &amp; Module Federation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Remote contract, 8 exposed modules, singletons &amp; props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92424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0:09–0:14  |  2. Dashboard &amp; Widgets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Single SignalR dashboard subscription, DnD grid &amp; CEM widget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88536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0:14–0:18  |  3. Alarms Module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Filterable REST details list vs. site-wide live AlarmContext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84648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0:18–0:24  |  4. Equipment Control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Thermostats, lights, optimistic SetPointWrites &amp; TC500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0:24–0:28  |  5. Configuration &amp; Reports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Asset visibility toggles, ConfigureWidget point roles &amp; PDF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96312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0:28–0:32  |  6. State Management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The 4 state homes, React Query conventions &amp; SignalR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92424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0:32–0:35  |  7. APIs &amp; Endpoints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3 destination APIs, Bearer token handling &amp; endpoint taxonomy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288536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0:35–0:39  |  8. Developer Workflow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Yarn scripts, strict ESLint rules, Jest mocks &amp; Husky pre-commit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5184648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0:39–0:42  |  9. Build &amp; Deployment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Cake automation, universal Docker image &amp; runtime envsubst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6080760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7490"/>
                </a:solidFill>
                <a:latin typeface="Verdana"/>
              </a:defRPr>
            </a:pPr>
            <a:r>
              <a:t>0:42–0:45  |  Conclusion &amp; Handover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Top 6 tech debt register items &amp; first-week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Site Manager Operates as a Module Federation Remote inside Unified Shell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3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E7490"/>
                </a:solidFill>
                <a:latin typeface="Georgia"/>
              </a:defRPr>
            </a:pPr>
            <a:r>
              <a:t>Remote Contract (siteManagerApp)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Defined in webpack.common.js via ModuleFederationPlugin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Exposes 8 distinct entry points: Dashboard, Alarms, Thermostats, Lights, Reports, Configuration, Points, Others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No internal router in repo — routing is owned entirely by unified-shell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Serves remoteEntry.[hash].js as the runtime entry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E7490"/>
                </a:solidFill>
                <a:latin typeface="Georgia"/>
              </a:defRPr>
            </a:pPr>
            <a:r>
              <a:t>Shared Singletons &amp; Dependencies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Singletons: React, React DOM, React Query, and @hcecbp/provider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Singletons prevent dual React instances that break hooks at runtime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Auth context (useClient) is supplied directly by the unified-shell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@forge/common design system is bundled directly into remote chunks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E7490"/>
                </a:solidFill>
                <a:latin typeface="Georgia"/>
              </a:defRPr>
            </a:pPr>
            <a:r>
              <a:t>Shell Contract &amp; Bootstrapping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Shell passes props: sites, userDetails, and onTriggerActions callback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Organization &amp; Site mapping: orgId = sites[0].customerId, siteId = sites[0].id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src/index.ts is an empty stub because remotes never boot standalone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Isolated UI development relies on Storybook and Jest test harnesses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SiteManagerProvider Enforces Strict Security Gates and Centralized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4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E7490"/>
                </a:solidFill>
                <a:latin typeface="Georgia"/>
              </a:defRPr>
            </a:pPr>
            <a:r>
              <a:t>SiteManagerProvider Tree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Wraps every exposed page in a single unified provider component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Provides Toast Provider, QueryClient, SignalR connection, &amp; Permissions Gate in one tree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Configures React Query Client defaults: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    • staleTime: 5 minutes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    • cacheTime: 10 minutes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    • retry: 2 attempts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    • refetchOnWindowFocus: false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Ensures all page components share identical caching and socket 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E11D48"/>
                </a:solidFill>
                <a:latin typeface="Georgia"/>
              </a:defRPr>
            </a:pPr>
            <a:r>
              <a:t>PermissionsWrapper Gate &amp; Security Privileges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Executes prior to rendering any page content: calls /status and privileges API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Renders &lt;AccessDenied /&gt; for portfolio view, unregistered site, or missing read rights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Three Core Security Privilege Strings: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    1. SiteManager_Point_Read (Required to view any page)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    2. SiteManager_Point_Write (Enforced per-widget via read-only flag)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    3. SiteManager_ConfigureWidget (Required for point role mapping)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Write access failures flip controls to read-only state rather than blocking page 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Data Management is Divided Across Four Distinct State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5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66944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E7490"/>
                </a:solidFill>
                <a:latin typeface="Georgia"/>
              </a:defRPr>
            </a:pPr>
            <a:r>
              <a:t>1. Server State (REST)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Managed via React Query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Fetches lists, initial asset states, and configuration data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Key convention: [feature, orgId, siteId, params]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Ensures clean cache scoping across site switches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5266944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E7490"/>
                </a:solidFill>
                <a:latin typeface="Georgia"/>
              </a:defRPr>
            </a:pPr>
            <a:r>
              <a:t>2. Live State (SignalR)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Real-time WebSocket streaming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Single subscription group per page ('dashboard')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Point updates merged directly into component state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Avoids invalidating React Query cache per socket 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66944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E11D48"/>
                </a:solidFill>
                <a:latin typeface="Georgia"/>
              </a:defRPr>
            </a:pPr>
            <a:r>
              <a:t>3. Shared Contexts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React Context for cross-widget state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AlarmContext: site-wide severity borders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ManualOverridesContext: active override tracking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ScheduleProvider: schedule views &amp; edits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3931920"/>
            <a:ext cx="5266944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F172A"/>
                </a:solidFill>
                <a:latin typeface="Georgia"/>
              </a:defRPr>
            </a:pPr>
            <a:r>
              <a:t>4. Local Component State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React useState &amp; useReducer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Optimistic toggle states &amp; slider positions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Drag-and-drop card ordering via @dnd-kit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Verdana"/>
              </a:defRPr>
            </a:pPr>
            <a:r>
              <a:t>•  Form inputs &amp; local modal visibility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Single SignalR Subscription Drives Live Dashboard Updates and Grid Layouts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6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0E7490"/>
                </a:solidFill>
                <a:latin typeface="Georgia"/>
              </a:defRPr>
            </a:pPr>
            <a:r>
              <a:t>Dashboard Layout &amp; Shell Deep-Linking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Layout Structure: Summary column (logo, alarm counts, CEM energy) on left; HVAC &amp; Lights grids on right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Mobile Responsive: Segmented control switches view between summary and equipment grids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Shell Navigation Coupling: Alert badges trigger onTriggerActions(AlarmsDashboardNavigation, severity) to request shell routing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CEM Energy Widget: Renders only if site has 'cem' bundle; polls on interval (10 min) and pauses on hidden tab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0E7490"/>
                </a:solidFill>
                <a:latin typeface="Georgia"/>
              </a:defRPr>
            </a:pPr>
            <a:r>
              <a:t>SignalR Routing &amp; Drag-and-Drop Grids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Single Subscription: Opens group 'dashboard' for union of visible thermostats, lights, and override assets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handleSignalRUpdates Routing: Dispatches point/schedule updates straight to asset widgets, bypassing Query cache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@dnd-kit Integration: Card reordering starts after 8px movement or 250ms touch hold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data-prevent-dnd Attribute: Protects setpoint sliders so dragging a control does not move the card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Optimistic Reorder: Updates local order instantly, calls reorder API, and reverts on failure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Alarms Architecture Combines REST Filtered Lists with Live AlarmContext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7 of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77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58030"/>
                <a:gridCol w="4358030"/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Alarms List Page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AlarmContext Site Summary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7490"/>
                          </a:solidFill>
                          <a:latin typeface="Verdana"/>
                        </a:defRPr>
                      </a:pPr>
                      <a:r>
                        <a:t>Core Purpose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Searchable, paginated, filterable audit log of historical &amp; active 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Site-wide alarm severity mapping that styles equipment card borders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7490"/>
                          </a:solidFill>
                          <a:latin typeface="Verdana"/>
                        </a:defRPr>
                      </a:pPr>
                      <a:r>
                        <a:t>Data Protocol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REST API: POST /metrics/alarmdetails with query string paging &amp; body filters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Dual Source: REST (useSystemAlerts) on load + live SignalR websocket pushes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7490"/>
                          </a:solidFill>
                          <a:latin typeface="Verdana"/>
                        </a:defRPr>
                      </a:pPr>
                      <a:r>
                        <a:t>Query Key /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Query key includes all params: any filter change resets page to 1 (500ms debounce)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Single rule: if SignalR list is not empty, use it; otherwise fallback to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7490"/>
                          </a:solidFill>
                          <a:latin typeface="Verdana"/>
                        </a:defRPr>
                      </a:pPr>
                      <a:r>
                        <a:t>Interactivity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Read-only display (no alarm acknowledgement action exists in this module)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High (Red), Medium (Yellow), Low (Blue) card borders; highest severity wins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SetPoint Writes Execute Optimistically with 800ms Per-Thermostat Debounce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8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0E7490"/>
                </a:solidFill>
                <a:latin typeface="Georgia"/>
              </a:defRPr>
            </a:pPr>
            <a:r>
              <a:t>SetPoint Writing Pipeline (useSetPointValues)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Single Write Endpoint: POST /gateways/{gatewayId}/SetPointValues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Payload Structure: Gateway type, system GUID, fresh commandId UUID per call, and point-value pairs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Power Toggle: Flips local state optimistically, sends command, and reverts with toast on failure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Gateway Differences: Sent as 'true'/'false' for Niagara gateways and '1'/'0' for others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Setpoint Adjustments: +/- buttons move in 0.5 steps; debounced 800ms per thermostat before network send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0E7490"/>
                </a:solidFill>
                <a:latin typeface="Georgia"/>
              </a:defRPr>
            </a:pPr>
            <a:r>
              <a:t>TC500 Thermostat &amp; Slider Constraints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Model Detection: Model string containing 'tc500' enables custom slider widget behind enableTc500 flag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Schedule-Driven Point Types: Point type built from current schedule (e.g. set-occupied-cooling, set-standby-heating)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Config Fallbacks: Setpoint limits sourced from config points -&gt; smNaDefaultValues flag -&gt; static [40, 120, 2, 1]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Strict Inequality Constraint Rule: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    UnoccHeat &lt;= StbyHeat &lt;= OccHeat &lt; OccCool &lt;= StbyCool &lt;= UnoccCool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Deadband Enforcement: Cool setpoint minus Heat setpoint must strictly exceed deadband margin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Configuration Maps Equipment Roles and Downloads Encoded PDF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9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E7490"/>
                </a:solidFill>
                <a:latin typeface="Georgia"/>
              </a:defRPr>
            </a:pPr>
            <a:r>
              <a:t>Asset Configuration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Admin screen managing HVAC &amp; Light visibility on Dashboard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Show Toggle: POST /configurations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Hide Toggle: PUT /configurations/remove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Optimistic state updates with error toast revert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Requires SiteManager_Point_Write permission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E11D48"/>
                </a:solidFill>
                <a:latin typeface="Georgia"/>
              </a:defRPr>
            </a:pPr>
            <a:r>
              <a:t>Configure Widget (Point Roles)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Intricate modal mapping controls (e.g. 'Mode - Control') to site point roles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Requires SiteManager_ConfigureWidget permission AND configureWidget flag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Sends asset + selected equipment mappings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Calls onResubscribe on success (200) to re-subscribe SignalR live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F172A"/>
                </a:solidFill>
                <a:latin typeface="Georgia"/>
              </a:defRPr>
            </a:pPr>
            <a:r>
              <a:t>PDF Reports Module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Simplest module: searchable table with direct PDF download button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Async fetcher retrieves PDF blob and creates Object URL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Applies encodeURIComponent on all URI path segments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Triggers invisible anchor element click for file download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Three Target API Destinations Managed with Bearer Token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10 of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77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20870"/>
                <a:gridCol w="4220870"/>
              </a:tblGrid>
              <a:tr h="1097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Target API Destination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Primary Endpoints &amp; Operations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t>Authentication &amp; Token Security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7490"/>
                          </a:solidFill>
                          <a:latin typeface="Verdana"/>
                        </a:defRPr>
                      </a:pPr>
                      <a:r>
                        <a:t>Site Manager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Assets (/layouts/assets/*), Alarms (/metrics/alarmdetails), Setpoint writes (/gateways/{id}/SetPointValues), Config (/configurations)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Bearer token obtained from shell useClient context; passed directly as 'Authorization: Bearer [token]'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7490"/>
                          </a:solidFill>
                          <a:latin typeface="Verdana"/>
                        </a:defRPr>
                      </a:pPr>
                      <a:r>
                        <a:t>Buildings Manager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User privileges (/users/orgs/{o}/nodes/{s}/privileges?scopes=SiteManager), Site logo (/organisations/.../logo), Calendar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Authenticated via shell token; scope SiteManager validates read/write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7490"/>
                          </a:solidFill>
                          <a:latin typeface="Verdana"/>
                        </a:defRPr>
                      </a:pPr>
                      <a:r>
                        <a:t>SignalR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Live WebSocket socket connections &amp; subscriptions (visible-points, gateway-status)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Token passed during WebSocket handshake query params; Bearer prefix stripped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Developer Workflow Enforces Strict Linting Rules, Mocks, and Husky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11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E7490"/>
                </a:solidFill>
                <a:latin typeface="Georgia"/>
              </a:defRPr>
            </a:pPr>
            <a:r>
              <a:t>1. Daily CLI Commands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yarn host (Port 3002)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yarn start (Storybook 9001)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yarn test:fast (Quick run)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yarn test (Full coverage)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yarn lint:all &amp; format:all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E7490"/>
                </a:solidFill>
                <a:latin typeface="Georgia"/>
              </a:defRPr>
            </a:pPr>
            <a:r>
              <a:t>2. ESLint Conventions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Mandatory copyright header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no-console strictly enforced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Arrow-function components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Handlers handleX, props onX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Ternaries required over &amp;&amp;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E11D48"/>
                </a:solidFill>
                <a:latin typeface="Georgia"/>
              </a:defRPr>
            </a:pPr>
            <a:r>
              <a:t>3. Jest &amp; RTL Testing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Jest 29 + React Testing Library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SignalR globally mocked in setup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i18n mock returns English text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Hook recipe: mock useClient,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mock fetch, QueryClient, renderHook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F172A"/>
                </a:solidFill>
                <a:latin typeface="Georgia"/>
              </a:defRPr>
            </a:pPr>
            <a:r>
              <a:t>4. Quality &amp; CI Gates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Pre-commit: lint-staged, build, test:fast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Coverage threshold: 65% branch, 89% lines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CI Pipeline: SonarQube analysis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Security: Coverity &amp; BlackDuck scans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Verdana"/>
              </a:defRPr>
            </a:pPr>
            <a:r>
              <a:t>•  PR Review: CODEOWNERS assigned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Cake Build Compiles Universal Docker Image with Runtime Env Injections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12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0E7490"/>
                </a:solidFill>
                <a:latin typeface="Georgia"/>
              </a:defRPr>
            </a:pPr>
            <a:r>
              <a:t>Cake Automation &amp; Docker Build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Cake Build Scripts: setup.cake compiles React app into dist/ and bundles with Nginx configuration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GitVersion Mainline: Full git history checkout generates semantic version numbers per commit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Universal Image Publishing: CI builds and publishes a Docker image for every push/branch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Security Scanning: Integrated SonarQube, Coverity, and BlackDuck (fails build on high vulnerabilities)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Nginx Server: Serves dist/, applies security headers, CORS allow-lists, and runs as non-root on port 3000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E11D48"/>
                </a:solidFill>
                <a:latin typeface="Georgia"/>
              </a:defRPr>
            </a:pPr>
            <a:r>
              <a:t>Runtime Container envsubst Injection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The Single-Image Strategy: Build outputs env.[hash].js containing literal placeholders like $SiteManagerApiBaseUrl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Startup Script Execution: env-variables.sh executes envsubst when Docker container boots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Environment Adaptability: Same Docker image runs unchanged across Dev, QA, Staging, and Production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Injected Variables: API base URLs, SignalR URL, LaunchDarkly keys, polling intervals, and navigation targets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Troubleshooting Tip: If app calls literal '$Something', the container environment variable was missing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Verdana"/>
              </a:defRPr>
            </a:pPr>
            <a:r>
              <a:t>SITE MANAGER TECHNICAL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Handover Action Plan Identifies Six Critical Technical Debt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Site Manager Knowledge Transfer  |  Confidential Architecture Documentation  |  Slide 13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E11D48"/>
                </a:solidFill>
                <a:latin typeface="Georgia"/>
              </a:defRPr>
            </a:pPr>
            <a:r>
              <a:t>Top 6 Technical Debt Register Items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1. Configuration.tsx spreads {...sites} into page props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2. useUpdateSchedule hardcodes '°C' and clears end values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3. Schedule edit gate leaves editing enabled for users without write access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4. Dashboard reads sites[0].siteId while other modules read sites[0].id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5. Provider context value rebuilds every render, causing extra SignalR re-subscriptions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6. Nginx health probes bypass /health/* location rules and depend on SPA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0E7490"/>
                </a:solidFill>
                <a:latin typeface="Georgia"/>
              </a:defRPr>
            </a:pPr>
            <a:r>
              <a:t>First-Week Handover Priorities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Run Environment Setup: Execute yarn host and yarn test:fast to verify local setup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Trace End-to-End Flow: Follow thermostat power toggle click in Thermostats.tsx through useSetPointValues to SignalR frame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Shell Team Sync: Confirm hashed remoteEntry resolution mechanism with shell team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Complete Runbook: Fill in release, rollback, and monitoring runbook in KT.md section 5.8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Verdana"/>
              </a:defRPr>
            </a:pPr>
            <a:r>
              <a:t>•  Backend Alignment: Validate inferred endpoints against backend Swagger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